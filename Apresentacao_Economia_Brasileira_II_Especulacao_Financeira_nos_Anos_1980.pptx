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0352" y="758952"/>
            <a:ext cx="11137392" cy="5440680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0352" y="758952"/>
            <a:ext cx="4846320" cy="10058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76672" y="758952"/>
            <a:ext cx="6291072" cy="10058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1069848"/>
            <a:ext cx="4617720" cy="4754880"/>
          </a:xfrm>
          <a:prstGeom prst="rect">
            <a:avLst/>
          </a:prstGeom>
          <a:solidFill>
            <a:srgbClr val="0B0E14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lide_01_sem_distor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1101851"/>
            <a:ext cx="4553712" cy="4032504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781812" y="5129784"/>
            <a:ext cx="4553712" cy="658368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4" y="5202936"/>
            <a:ext cx="4361688" cy="32004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F5E9DB"/>
                </a:solidFill>
                <a:latin typeface="Liberation Sans"/>
              </a:rPr>
              <a:t>Supermercado no Rio de Janeiro, março de 1986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5550408"/>
            <a:ext cx="4361688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70" b="0">
                <a:solidFill>
                  <a:srgbClr val="CBA04D"/>
                </a:solidFill>
                <a:latin typeface="Liberation Mono"/>
              </a:rPr>
              <a:t>O Globo · 1986</a:t>
            </a:r>
          </a:p>
        </p:txBody>
      </p:sp>
      <p:pic>
        <p:nvPicPr>
          <p:cNvPr id="32" name="Picture 31" descr="ufm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1060704"/>
            <a:ext cx="458217" cy="5394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437376" y="1124712"/>
            <a:ext cx="4718304" cy="2468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70" b="1">
                <a:solidFill>
                  <a:srgbClr val="F5E9DB"/>
                </a:solidFill>
                <a:latin typeface="Liberation Sans"/>
              </a:rPr>
              <a:t>UNIVERSIDADE FEDERAL DE MATO GROSSO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7376" y="1417320"/>
            <a:ext cx="4727448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70" b="0">
                <a:solidFill>
                  <a:srgbClr val="DDCFBE"/>
                </a:solidFill>
                <a:latin typeface="Liberation Mono"/>
              </a:rPr>
              <a:t>FACULDADE DE ECONOMIA · CIÊNCIAS ECONÔMICAS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24728" y="1874519"/>
            <a:ext cx="5239512" cy="3200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33872" y="2020824"/>
            <a:ext cx="520293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ARQUIVO ECONÔMICO · SEMINÁRIO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97296" y="2386584"/>
            <a:ext cx="5522976" cy="18013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3950" b="1">
                <a:solidFill>
                  <a:srgbClr val="F5E9DB"/>
                </a:solidFill>
                <a:latin typeface="Liberation Sans"/>
              </a:rPr>
              <a:t>A ESPECULAÇÃO
FINANCEIRA NOS
ANOS 1980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24728" y="4471416"/>
            <a:ext cx="5330952" cy="8138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0">
                <a:solidFill>
                  <a:srgbClr val="DDCFBE"/>
                </a:solidFill>
                <a:latin typeface="Liberation Sans"/>
              </a:rPr>
              <a:t>Crise da dívida, inflação, indexação e transformação das finanças brasileiras.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8" y="6044184"/>
            <a:ext cx="10497312" cy="15544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6144768"/>
            <a:ext cx="10332720" cy="21945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70" b="0">
                <a:solidFill>
                  <a:srgbClr val="CBA04D"/>
                </a:solidFill>
                <a:latin typeface="Liberation Mono"/>
              </a:rPr>
              <a:t>ECONOMIA BRASILEIRA II · PROFª PRISCILA DAHMER H. B. SOARES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6400800"/>
            <a:ext cx="1069848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F5E9DB"/>
                </a:solidFill>
                <a:latin typeface="Liberation Mono"/>
              </a:rPr>
              <a:t>IGOR MARCELO  ·  ALEXANDRE GOMES  ·  MARCOS VINICIUS  ·  RODOLFO COLOMBO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1097280"/>
            <a:ext cx="493776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PAUTA EDITORIAL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" y="1399032"/>
            <a:ext cx="10972800" cy="6400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3750" b="1">
                <a:solidFill>
                  <a:srgbClr val="F5E9DB"/>
                </a:solidFill>
                <a:latin typeface="Liberation Sans"/>
              </a:rPr>
              <a:t>QUATRO BLOCOS DE ANÁLISE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496312"/>
            <a:ext cx="5394960" cy="1645920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4360" y="2496312"/>
            <a:ext cx="5394960" cy="64008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2697480"/>
            <a:ext cx="603504" cy="3931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400" b="1">
                <a:solidFill>
                  <a:srgbClr val="E1C18A"/>
                </a:solidFill>
                <a:latin typeface="Liberation Sans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9032" y="2651760"/>
            <a:ext cx="448056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900" b="1">
                <a:solidFill>
                  <a:srgbClr val="F5E9DB"/>
                </a:solidFill>
                <a:latin typeface="Liberation Sans"/>
              </a:rPr>
              <a:t>INTRODUÇÃO E CONTEXTO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3264408"/>
            <a:ext cx="4434840" cy="4572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70" b="0">
                <a:solidFill>
                  <a:srgbClr val="DDCFBE"/>
                </a:solidFill>
                <a:latin typeface="Liberation Sans"/>
              </a:rPr>
              <a:t>Crise da dívida, choques externos e deterioração da economia brasileira.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794760"/>
            <a:ext cx="5394960" cy="347472"/>
          </a:xfrm>
          <a:prstGeom prst="rect">
            <a:avLst/>
          </a:prstGeom>
          <a:solidFill>
            <a:srgbClr val="4C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99032" y="3886200"/>
            <a:ext cx="443484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E1C18A"/>
                </a:solidFill>
                <a:latin typeface="Liberation Mono"/>
              </a:rPr>
              <a:t>IGOR MARCELO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45352" y="2496312"/>
            <a:ext cx="5394960" cy="1645920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45352" y="2496312"/>
            <a:ext cx="5394960" cy="64008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1656" y="2697480"/>
            <a:ext cx="603504" cy="3931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400" b="1">
                <a:solidFill>
                  <a:srgbClr val="E1C18A"/>
                </a:solidFill>
                <a:latin typeface="Liberation San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50024" y="2651760"/>
            <a:ext cx="448056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900" b="1">
                <a:solidFill>
                  <a:srgbClr val="F5E9DB"/>
                </a:solidFill>
                <a:latin typeface="Liberation Sans"/>
              </a:rPr>
              <a:t>CONDIÇÕES PARA A EXPANSÃO DA ESPECULAÇÃO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0024" y="3264408"/>
            <a:ext cx="4434840" cy="4572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70" b="0">
                <a:solidFill>
                  <a:srgbClr val="DDCFBE"/>
                </a:solidFill>
                <a:latin typeface="Liberation Sans"/>
              </a:rPr>
              <a:t>Indexação, inflação, títulos públicos e excedentes empresariais.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45352" y="3794760"/>
            <a:ext cx="5394960" cy="347472"/>
          </a:xfrm>
          <a:prstGeom prst="rect">
            <a:avLst/>
          </a:prstGeom>
          <a:solidFill>
            <a:srgbClr val="4C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50024" y="3886200"/>
            <a:ext cx="443484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E1C18A"/>
                </a:solidFill>
                <a:latin typeface="Liberation Mono"/>
              </a:rPr>
              <a:t>ALEXANDRE GOMES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4325112"/>
            <a:ext cx="5394960" cy="1645920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" y="4325112"/>
            <a:ext cx="5394960" cy="64008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0664" y="4526280"/>
            <a:ext cx="603504" cy="3931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400" b="1">
                <a:solidFill>
                  <a:srgbClr val="E1C18A"/>
                </a:solidFill>
                <a:latin typeface="Liberation Sans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99032" y="4480560"/>
            <a:ext cx="448056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900" b="1">
                <a:solidFill>
                  <a:srgbClr val="F5E9DB"/>
                </a:solidFill>
                <a:latin typeface="Liberation Sans"/>
              </a:rPr>
              <a:t>FUNCIONAMENTO DA ESPECULAÇÃO FINANCEIRA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99032" y="5093208"/>
            <a:ext cx="4434840" cy="4572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70" b="0">
                <a:solidFill>
                  <a:srgbClr val="DDCFBE"/>
                </a:solidFill>
                <a:latin typeface="Liberation Sans"/>
              </a:rPr>
              <a:t>Capital produtivo e especulativo, ajuste patrimonial, overnight e proteção desigual.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5623560"/>
            <a:ext cx="5394960" cy="347472"/>
          </a:xfrm>
          <a:prstGeom prst="rect">
            <a:avLst/>
          </a:prstGeom>
          <a:solidFill>
            <a:srgbClr val="4C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99032" y="5715000"/>
            <a:ext cx="443484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E1C18A"/>
                </a:solidFill>
                <a:latin typeface="Liberation Mono"/>
              </a:rPr>
              <a:t>MARCOS VINICIUS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45352" y="4325112"/>
            <a:ext cx="5394960" cy="1645920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45352" y="4325112"/>
            <a:ext cx="5394960" cy="64008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91656" y="4526280"/>
            <a:ext cx="603504" cy="3931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400" b="1">
                <a:solidFill>
                  <a:srgbClr val="E1C18A"/>
                </a:solidFill>
                <a:latin typeface="Liberation Sans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0024" y="4480560"/>
            <a:ext cx="448056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900" b="1">
                <a:solidFill>
                  <a:srgbClr val="F5E9DB"/>
                </a:solidFill>
                <a:latin typeface="Liberation Sans"/>
              </a:rPr>
              <a:t>CONSEQUÊNCIAS E CONSIDERAÇÕES FINAIS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50024" y="5093208"/>
            <a:ext cx="4434840" cy="4572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70" b="0">
                <a:solidFill>
                  <a:srgbClr val="DDCFBE"/>
                </a:solidFill>
                <a:latin typeface="Liberation Sans"/>
              </a:rPr>
              <a:t>Ajuste privado, crise pública, expansão financeira e financiamento produtivo.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45352" y="5623560"/>
            <a:ext cx="5394960" cy="347472"/>
          </a:xfrm>
          <a:prstGeom prst="rect">
            <a:avLst/>
          </a:prstGeom>
          <a:solidFill>
            <a:srgbClr val="4C25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50024" y="5715000"/>
            <a:ext cx="443484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E1C18A"/>
                </a:solidFill>
                <a:latin typeface="Liberation Mono"/>
              </a:rPr>
              <a:t>RODOLFO COLOMBO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9496" y="6592824"/>
            <a:ext cx="9875520" cy="155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00" b="0">
                <a:solidFill>
                  <a:srgbClr val="BBAA94"/>
                </a:solidFill>
                <a:latin typeface="Liberation Mono"/>
              </a:rPr>
              <a:t>UFMT · ECONOMIA BRASILEIRA II · ARQUIVO ECONÔMICO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2487168" cy="6858000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87168" y="0"/>
            <a:ext cx="173736" cy="6858000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1014984"/>
            <a:ext cx="2075688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0" b="1">
                <a:solidFill>
                  <a:srgbClr val="F5E9DB"/>
                </a:solidFill>
                <a:latin typeface="Liberation Sans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" y="4672584"/>
            <a:ext cx="1892807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10" b="1">
                <a:solidFill>
                  <a:srgbClr val="F5E9DB"/>
                </a:solidFill>
              </a:rPr>
              <a:t>ARQUIVO ECONÔMICO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93192"/>
            <a:ext cx="5120640" cy="228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DDCFBE"/>
                </a:solidFill>
                <a:latin typeface="Liberation Mono"/>
              </a:rPr>
              <a:t>ECONOMIA BRASILEIRA II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393192"/>
            <a:ext cx="2176272" cy="228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200" b="0">
                <a:solidFill>
                  <a:srgbClr val="E1C18A"/>
                </a:solidFill>
                <a:latin typeface="Liberation Mono"/>
              </a:rPr>
              <a:t>CAPÍTULO 01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740664"/>
            <a:ext cx="8513064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1417320"/>
            <a:ext cx="5394960" cy="292608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9816" y="1453896"/>
            <a:ext cx="7863840" cy="2011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10" b="1">
                <a:solidFill>
                  <a:srgbClr val="1B1716"/>
                </a:solidFill>
                <a:latin typeface="Liberation Sans"/>
              </a:rPr>
              <a:t>INTRODUÇÃO E CONTEXTO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1993392"/>
            <a:ext cx="8394192" cy="24871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4600" b="1">
                <a:solidFill>
                  <a:srgbClr val="F5E9DB"/>
                </a:solidFill>
                <a:latin typeface="Liberation Sans"/>
              </a:rPr>
              <a:t>A ECONOMIA BRASILEIRA NA ENTRADA DOS ANOS 1980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6664" y="5093208"/>
            <a:ext cx="1828800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5175504"/>
            <a:ext cx="1581912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CRISE DA DÍVIDA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65192" y="5093208"/>
            <a:ext cx="1252728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93207" y="5175504"/>
            <a:ext cx="1005840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INFLAÇÃO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27648" y="5093208"/>
            <a:ext cx="1252728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55664" y="5175504"/>
            <a:ext cx="1005840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RECESSÃO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90104" y="5093208"/>
            <a:ext cx="1088136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5175504"/>
            <a:ext cx="841247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AJUSTE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5751576"/>
            <a:ext cx="8924544" cy="28346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5902452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F5E0C0"/>
                </a:solidFill>
                <a:latin typeface="Aptos"/>
              </a:rPr>
              <a:t>SEMINARISTA · IGOR MARCELO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79024" y="5971032"/>
            <a:ext cx="1060704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00" b="0">
                <a:solidFill>
                  <a:srgbClr val="E1C18A"/>
                </a:solidFill>
                <a:latin typeface="Liberation Mono"/>
              </a:rPr>
              <a:t>03 / 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5184648"/>
            <a:ext cx="19202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E1C18A"/>
                </a:solidFill>
                <a:latin typeface="Liberation Mono"/>
              </a:rPr>
              <a:t>1980 — 1989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01 · INTRODUÇÃO E CONTEXTO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" y="1344168"/>
            <a:ext cx="4599432" cy="4928616"/>
          </a:xfrm>
          <a:prstGeom prst="rect">
            <a:avLst/>
          </a:prstGeom>
          <a:solidFill>
            <a:srgbClr val="0B0E14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lide_04_sem_distor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76172"/>
            <a:ext cx="4535424" cy="420624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71500" y="5577840"/>
            <a:ext cx="4535424" cy="658368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650992"/>
            <a:ext cx="4343400" cy="32004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F5E9DB"/>
                </a:solidFill>
                <a:latin typeface="Liberation Sans"/>
              </a:rPr>
              <a:t>Manifestação de desempregados em São Paulo (1983)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5998464"/>
            <a:ext cx="4343400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70" b="0">
                <a:solidFill>
                  <a:srgbClr val="CBA04D"/>
                </a:solidFill>
                <a:latin typeface="Liberation Mono"/>
              </a:rPr>
              <a:t>Memorial da Democracia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3248" y="1453896"/>
            <a:ext cx="627278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PANORAMA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1783080"/>
            <a:ext cx="6080760" cy="1042415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3000" b="1">
                <a:solidFill>
                  <a:srgbClr val="F5E9DB"/>
                </a:solidFill>
                <a:latin typeface="Liberation Sans"/>
              </a:rPr>
              <a:t>Recessão e desequilíbrios no início da década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13248" y="2898648"/>
            <a:ext cx="6099048" cy="3200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04103" y="3191256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2704" y="3099815"/>
            <a:ext cx="5769864" cy="95707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14" b="0">
                <a:solidFill>
                  <a:srgbClr val="F5E9DB"/>
                </a:solidFill>
                <a:latin typeface="Liberation Sans"/>
              </a:rPr>
              <a:t>Na segunda metade dos anos 1970, o II PND ampliou a industrialização e o investimento estatal, com crescente recurso ao endividamento externo.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04103" y="4221480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32704" y="4130040"/>
            <a:ext cx="5769864" cy="95707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14" b="0">
                <a:solidFill>
                  <a:srgbClr val="F5E9DB"/>
                </a:solidFill>
                <a:latin typeface="Liberation Sans"/>
              </a:rPr>
              <a:t>A partir de 1979, o segundo choque do petróleo e a alta dos juros externos elevaram o custo da dívida e agravaram a restrição externa.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4103" y="5251704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32704" y="5160264"/>
            <a:ext cx="5769864" cy="95707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14" b="0">
                <a:solidFill>
                  <a:srgbClr val="F5E9DB"/>
                </a:solidFill>
                <a:latin typeface="Liberation Sans"/>
              </a:rPr>
              <a:t>O ajuste recessivo de 1981–1983 marcou a chamada “década perdida”, embora a economia tenha voltado a crescer em 1984.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Fonte: Giambiagi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(2011, cap. 4).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01 · INTRODUÇÃO E CONTEXTO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1133856"/>
            <a:ext cx="93268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FLUXO CAUSAL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" y="1463040"/>
            <a:ext cx="10991088" cy="8321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3500" b="1">
                <a:solidFill>
                  <a:srgbClr val="F5E9DB"/>
                </a:solidFill>
                <a:latin typeface="Liberation Sans"/>
              </a:rPr>
              <a:t>Choques externos e crise da dívida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" y="2569464"/>
            <a:ext cx="2670048" cy="3410712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6072" y="2569464"/>
            <a:ext cx="2670048" cy="5486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" y="2770632"/>
            <a:ext cx="713232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800" b="1">
                <a:solidFill>
                  <a:srgbClr val="E1C18A"/>
                </a:solidFill>
                <a:latin typeface="Liberation San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" y="3401568"/>
            <a:ext cx="2377440" cy="8229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880" b="1">
                <a:solidFill>
                  <a:srgbClr val="F5E9DB"/>
                </a:solidFill>
                <a:latin typeface="Liberation Sans"/>
              </a:rPr>
              <a:t>2º CHOQUE DO PETRÓLEO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0664" y="4334256"/>
            <a:ext cx="2304288" cy="22860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98848"/>
            <a:ext cx="2331720" cy="12801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50" b="0">
                <a:solidFill>
                  <a:srgbClr val="F5E9DB"/>
                </a:solidFill>
                <a:latin typeface="Liberation Sans"/>
              </a:rPr>
              <a:t>Em 1979, a alta do petróleo pressionou a economia mundial.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9544" y="3730752"/>
            <a:ext cx="219456" cy="33832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000" b="1">
                <a:solidFill>
                  <a:srgbClr val="E1C18A"/>
                </a:solidFill>
                <a:latin typeface="Liberation Sans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55848" y="2569464"/>
            <a:ext cx="2670048" cy="3410712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355848" y="2569464"/>
            <a:ext cx="2670048" cy="54864"/>
          </a:xfrm>
          <a:prstGeom prst="rect">
            <a:avLst/>
          </a:prstGeom>
          <a:solidFill>
            <a:srgbClr val="A44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20440" y="2770632"/>
            <a:ext cx="713232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800" b="1">
                <a:solidFill>
                  <a:srgbClr val="E1C18A"/>
                </a:solidFill>
                <a:latin typeface="Liberation Sans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3401568"/>
            <a:ext cx="2377440" cy="8229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880" b="1">
                <a:solidFill>
                  <a:srgbClr val="F5E9DB"/>
                </a:solidFill>
                <a:latin typeface="Liberation Sans"/>
              </a:rPr>
              <a:t>JUROS INTERNACIONAIS 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4334256"/>
            <a:ext cx="2304288" cy="22860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4498848"/>
            <a:ext cx="2331720" cy="12801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50" b="0">
                <a:solidFill>
                  <a:srgbClr val="F5E9DB"/>
                </a:solidFill>
                <a:latin typeface="Liberation Sans"/>
              </a:rPr>
              <a:t>Juros mais altos encareceram o crédito e o serviço da dívida.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3730752"/>
            <a:ext cx="219456" cy="33832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000" b="1">
                <a:solidFill>
                  <a:srgbClr val="E1C18A"/>
                </a:solidFill>
                <a:latin typeface="Liberation Sans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35624" y="2569464"/>
            <a:ext cx="2670048" cy="3410712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35624" y="2569464"/>
            <a:ext cx="2670048" cy="54864"/>
          </a:xfrm>
          <a:prstGeom prst="rect">
            <a:avLst/>
          </a:prstGeom>
          <a:solidFill>
            <a:srgbClr val="A44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0216" y="2770632"/>
            <a:ext cx="713232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800" b="1">
                <a:solidFill>
                  <a:srgbClr val="E1C18A"/>
                </a:solidFill>
                <a:latin typeface="Liberation Sans"/>
              </a:rPr>
              <a:t>03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0216" y="3401568"/>
            <a:ext cx="2377440" cy="8229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880" b="1">
                <a:solidFill>
                  <a:srgbClr val="F5E9DB"/>
                </a:solidFill>
                <a:latin typeface="Liberation Sans"/>
              </a:rPr>
              <a:t>RESTRIÇÃO EXTERNA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0216" y="4334256"/>
            <a:ext cx="2304288" cy="22860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0216" y="4498848"/>
            <a:ext cx="2331720" cy="12801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50" b="0">
                <a:solidFill>
                  <a:srgbClr val="F5E9DB"/>
                </a:solidFill>
                <a:latin typeface="Liberation Sans"/>
              </a:rPr>
              <a:t>A dívida externa ampliou a vulnerabilidade do Brasil.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69096" y="3730752"/>
            <a:ext cx="219456" cy="33832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000" b="1">
                <a:solidFill>
                  <a:srgbClr val="E1C18A"/>
                </a:solidFill>
                <a:latin typeface="Liberation Sans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15400" y="2569464"/>
            <a:ext cx="2670048" cy="3410712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915400" y="2569464"/>
            <a:ext cx="2670048" cy="5486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079992" y="2770632"/>
            <a:ext cx="713232" cy="4389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800" b="1">
                <a:solidFill>
                  <a:srgbClr val="E1C18A"/>
                </a:solidFill>
                <a:latin typeface="Liberation Sans"/>
              </a:rPr>
              <a:t>04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79992" y="3401568"/>
            <a:ext cx="2377440" cy="8229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880" b="1">
                <a:solidFill>
                  <a:srgbClr val="F5E9DB"/>
                </a:solidFill>
                <a:latin typeface="Liberation Sans"/>
              </a:rPr>
              <a:t>AJUSTE E RECESSÃO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79992" y="4334256"/>
            <a:ext cx="2304288" cy="22860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79992" y="4498848"/>
            <a:ext cx="2331720" cy="12801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50" b="0">
                <a:solidFill>
                  <a:srgbClr val="F5E9DB"/>
                </a:solidFill>
                <a:latin typeface="Liberation Sans"/>
              </a:rPr>
              <a:t>O ajuste restritivo reduziu a atividade econômica.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Fonte: Giambiagi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(2011, cap. 4).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01 · INTRODUÇÃO E CONTEXTO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" y="1344168"/>
            <a:ext cx="4599432" cy="4928616"/>
          </a:xfrm>
          <a:prstGeom prst="rect">
            <a:avLst/>
          </a:prstGeom>
          <a:solidFill>
            <a:srgbClr val="0B0E14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lide_06_sem_distor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76172"/>
            <a:ext cx="4535424" cy="420624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71500" y="5577840"/>
            <a:ext cx="4535424" cy="658368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650992"/>
            <a:ext cx="4343400" cy="32004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90" b="1">
                <a:solidFill>
                  <a:srgbClr val="F5E9DB"/>
                </a:solidFill>
                <a:latin typeface="Liberation Sans"/>
              </a:rPr>
              <a:t>Equipe econômica brasileira no contexto das negociações com o FMI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5998464"/>
            <a:ext cx="4343400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70" b="0">
                <a:solidFill>
                  <a:srgbClr val="CBA04D"/>
                </a:solidFill>
                <a:latin typeface="Liberation Mono"/>
              </a:rPr>
              <a:t>Acervo O Globo · início dos anos 1980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3248" y="1453896"/>
            <a:ext cx="627278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TRANSMISSÃO DA CRISE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1783080"/>
            <a:ext cx="6080760" cy="1042415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3000" b="1">
                <a:solidFill>
                  <a:srgbClr val="F5E9DB"/>
                </a:solidFill>
                <a:latin typeface="Liberation Sans"/>
              </a:rPr>
              <a:t>Do desequilíbrio externo à crise interna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13248" y="2898648"/>
            <a:ext cx="6099048" cy="3200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04103" y="3191256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2704" y="3099815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A crise externa pressiona as contas públicas e amplia o peso dos encargos da dívida.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04103" y="3963924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32704" y="3872484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Mesmo com a recessão, a inflação permaneceu elevada em 1981–1982 e voltou a acelerar em 1983.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4103" y="4736592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32704" y="4645152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O Estado passa a enfrentar simultaneamente maior serviço da dívida externa, dívida interna crescente e deterioração fiscal.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04103" y="5509259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2704" y="5417820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Crise fiscal, inflação elevada e recessão passam a coexistir.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Fontes: Lacerda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(2010, cap. 12); Giambiagi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(2011, cap. 4).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01 · INTRODUÇÃO E CONTEXTO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" y="1316736"/>
            <a:ext cx="4590288" cy="4992624"/>
          </a:xfrm>
          <a:prstGeom prst="rect">
            <a:avLst/>
          </a:prstGeom>
          <a:solidFill>
            <a:srgbClr val="0B0E14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lide_07_sem_distor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48739"/>
            <a:ext cx="4526279" cy="427024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71500" y="5614416"/>
            <a:ext cx="4526279" cy="658368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687568"/>
            <a:ext cx="4334255" cy="32004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F5E9DB"/>
                </a:solidFill>
                <a:latin typeface="Liberation Sans"/>
              </a:rPr>
              <a:t>Bolsa de Valores do Rio de Janeiro, agosto de 1983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6035040"/>
            <a:ext cx="4334255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70" b="0">
                <a:solidFill>
                  <a:srgbClr val="CBA04D"/>
                </a:solidFill>
                <a:latin typeface="Liberation Mono"/>
              </a:rPr>
              <a:t>Acervo Musehum · 1983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85816" y="1435608"/>
            <a:ext cx="61264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DA CRISE À ESPECULAÇÃO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6672" y="1746504"/>
            <a:ext cx="6126480" cy="1033271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3000" b="1">
                <a:solidFill>
                  <a:srgbClr val="F5E9DB"/>
                </a:solidFill>
                <a:latin typeface="Liberation Sans"/>
              </a:rPr>
              <a:t>Como a crise favoreceu a especulação financeira?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85816" y="2871215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14416" y="2779775"/>
            <a:ext cx="5815584" cy="64312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50" b="0">
                <a:solidFill>
                  <a:srgbClr val="F5E9DB"/>
                </a:solidFill>
                <a:latin typeface="Liberation Sans"/>
              </a:rPr>
              <a:t>A inflação aumenta a necessidade de proteger o valor da riqueza.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85816" y="3587495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14416" y="3496055"/>
            <a:ext cx="5815584" cy="64312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50" b="0">
                <a:solidFill>
                  <a:srgbClr val="F5E9DB"/>
                </a:solidFill>
                <a:latin typeface="Liberation Sans"/>
              </a:rPr>
              <a:t>A indexação oferece proteção a determinados contratos e ativos.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85816" y="4303775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14416" y="4212336"/>
            <a:ext cx="5815584" cy="64312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50" b="0">
                <a:solidFill>
                  <a:srgbClr val="F5E9DB"/>
                </a:solidFill>
                <a:latin typeface="Liberation Sans"/>
              </a:rPr>
              <a:t>Na recessão de 1981–1983, grandes empresas passam a ter recursos acima de suas expectativas de investimento produtivo.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376672" y="5120640"/>
            <a:ext cx="6071616" cy="1179576"/>
          </a:xfrm>
          <a:prstGeom prst="rect">
            <a:avLst/>
          </a:prstGeom>
          <a:solidFill>
            <a:srgbClr val="51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76672" y="5120640"/>
            <a:ext cx="91440" cy="1179576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14416" y="5312664"/>
            <a:ext cx="5486400" cy="8961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590" b="1">
                <a:solidFill>
                  <a:srgbClr val="F5E9DB"/>
                </a:solidFill>
                <a:latin typeface="Liberation Sans"/>
              </a:rPr>
              <a:t>Por que parte desses recursos passou a ser direcionada para aplicações financeiras, em vez de novos investimentos produtivos?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Fonte: Lacerda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(2010, seção 12.3).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2487168" cy="6858000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87168" y="0"/>
            <a:ext cx="173736" cy="6858000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1014984"/>
            <a:ext cx="2075688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0" b="1">
                <a:solidFill>
                  <a:srgbClr val="F5E9DB"/>
                </a:solidFill>
                <a:latin typeface="Liberation San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" y="4672584"/>
            <a:ext cx="1892807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10" b="1">
                <a:solidFill>
                  <a:srgbClr val="F5E9DB"/>
                </a:solidFill>
              </a:rPr>
              <a:t>ARQUIVO ECONÔMICO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93192"/>
            <a:ext cx="5120640" cy="228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DDCFBE"/>
                </a:solidFill>
                <a:latin typeface="Liberation Mono"/>
              </a:rPr>
              <a:t>ECONOMIA BRASILEIRA II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393192"/>
            <a:ext cx="2176272" cy="228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200" b="0">
                <a:solidFill>
                  <a:srgbClr val="E1C18A"/>
                </a:solidFill>
                <a:latin typeface="Liberation Mono"/>
              </a:rPr>
              <a:t>CAPÍTULO 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740664"/>
            <a:ext cx="8513064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1417320"/>
            <a:ext cx="5394960" cy="292608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9816" y="1453896"/>
            <a:ext cx="7863840" cy="2011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10" b="1">
                <a:solidFill>
                  <a:srgbClr val="1B1716"/>
                </a:solidFill>
                <a:latin typeface="Liberation Sans"/>
              </a:rPr>
              <a:t>CONDIÇÕES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1993392"/>
            <a:ext cx="8394192" cy="24871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4600" b="1">
                <a:solidFill>
                  <a:srgbClr val="F5E9DB"/>
                </a:solidFill>
                <a:latin typeface="Liberation Sans"/>
              </a:rPr>
              <a:t>AS CONDIÇÕES PARA A EXPANSÃO DA ESPECULAÇÃO FINANCEIRA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6664" y="5093208"/>
            <a:ext cx="1335024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5175504"/>
            <a:ext cx="1088136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INDEXAÇÃO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71416" y="5093208"/>
            <a:ext cx="1252728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2" y="5175504"/>
            <a:ext cx="1005840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INFLAÇÃO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833872" y="5093208"/>
            <a:ext cx="1911095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61888" y="5175504"/>
            <a:ext cx="1664207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TÍTULOS PÚBLICOS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54696" y="5093208"/>
            <a:ext cx="1417319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2712" y="5175504"/>
            <a:ext cx="1170431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EXCEDENTES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5751576"/>
            <a:ext cx="8924544" cy="28346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5902452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F5E0C0"/>
                </a:solidFill>
                <a:latin typeface="Aptos"/>
              </a:rPr>
              <a:t>SEMINARISTA · ALEXANDRE GOMES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79024" y="5971032"/>
            <a:ext cx="1060704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00" b="0">
                <a:solidFill>
                  <a:srgbClr val="E1C18A"/>
                </a:solidFill>
                <a:latin typeface="Liberation Mono"/>
              </a:rPr>
              <a:t>08 / 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5184648"/>
            <a:ext cx="19202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E1C18A"/>
                </a:solidFill>
                <a:latin typeface="Liberation Mono"/>
              </a:rPr>
              <a:t>1980 — 1989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02 · CONDIÇÕES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" y="1344168"/>
            <a:ext cx="4599432" cy="4928616"/>
          </a:xfrm>
          <a:prstGeom prst="rect">
            <a:avLst/>
          </a:prstGeom>
          <a:solidFill>
            <a:srgbClr val="0B0E14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lide_09_sem_distor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76172"/>
            <a:ext cx="4535424" cy="420624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71500" y="5577840"/>
            <a:ext cx="4535424" cy="658368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650992"/>
            <a:ext cx="4343400" cy="32004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F5E9DB"/>
                </a:solidFill>
                <a:latin typeface="Liberation Sans"/>
              </a:rPr>
              <a:t>Cartaz publicitário da poupança da Caixa (anos 1980)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5998464"/>
            <a:ext cx="4343400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70" b="0">
                <a:solidFill>
                  <a:srgbClr val="CBA04D"/>
                </a:solidFill>
                <a:latin typeface="Liberation Mono"/>
              </a:rPr>
              <a:t>Acervo publicitário · Caixa Econômica Federal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3248" y="1453896"/>
            <a:ext cx="627278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PROTEÇÃO CONTRA A INFLAÇÃO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1783080"/>
            <a:ext cx="6080760" cy="1042415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3000" b="1">
                <a:solidFill>
                  <a:srgbClr val="F5E9DB"/>
                </a:solidFill>
                <a:latin typeface="Liberation Sans"/>
              </a:rPr>
              <a:t>Uma economia cada vez mais indexada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13248" y="2898648"/>
            <a:ext cx="6099048" cy="3200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04103" y="3191256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2704" y="3099815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A correção monetária buscava preservar o valor real de contratos e ativos diante da inflação.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04103" y="3963924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32704" y="3872484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À medida que a inflação aumenta, os mecanismos de indexação se difundem pela economia.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4103" y="4736592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32704" y="4645152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Salários, contratos e ativos passam a incorporar de formas distintas a inflação passada.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04103" y="5509259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2704" y="5417820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Essa proteção não alcançava todos os agentes da mesma maneira.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Fonte: Giambiagi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(2011, caps. 3–5).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02 · CONDIÇÕES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1133856"/>
            <a:ext cx="93268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INÉRCIA INFLACIONÁRIA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" y="1463040"/>
            <a:ext cx="10991088" cy="8321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3500" b="1">
                <a:solidFill>
                  <a:srgbClr val="F5E9DB"/>
                </a:solidFill>
                <a:latin typeface="Liberation Sans"/>
              </a:rPr>
              <a:t>A inflação passa a carregar o passado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" y="2468880"/>
            <a:ext cx="4370832" cy="1618488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" y="2468880"/>
            <a:ext cx="91440" cy="1618488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2633472"/>
            <a:ext cx="603504" cy="3931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150" b="1">
                <a:solidFill>
                  <a:srgbClr val="E1C18A"/>
                </a:solidFill>
                <a:latin typeface="Liberation San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44752" y="2642616"/>
            <a:ext cx="338328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900" b="1">
                <a:solidFill>
                  <a:srgbClr val="F5E9DB"/>
                </a:solidFill>
                <a:latin typeface="Liberation Sans"/>
              </a:rPr>
              <a:t>INFLAÇÃO PASSADA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52" y="3099816"/>
            <a:ext cx="3328416" cy="9235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00" b="0">
                <a:solidFill>
                  <a:srgbClr val="DDCFBE"/>
                </a:solidFill>
                <a:latin typeface="Liberation Sans"/>
              </a:rPr>
              <a:t>A alta anterior de preços torna-se referência para reajustes futuros.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87184" y="2468880"/>
            <a:ext cx="4370832" cy="1618488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87184" y="2468880"/>
            <a:ext cx="91440" cy="1618488"/>
          </a:xfrm>
          <a:prstGeom prst="rect">
            <a:avLst/>
          </a:prstGeom>
          <a:solidFill>
            <a:srgbClr val="A44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0920" y="2633472"/>
            <a:ext cx="603504" cy="3931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150" b="1">
                <a:solidFill>
                  <a:srgbClr val="E1C18A"/>
                </a:solidFill>
                <a:latin typeface="Liberation San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9288" y="2642616"/>
            <a:ext cx="338328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900" b="1">
                <a:solidFill>
                  <a:srgbClr val="F5E9DB"/>
                </a:solidFill>
                <a:latin typeface="Liberation Sans"/>
              </a:rPr>
              <a:t>REAJUSTES INDEXADOS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19288" y="3099816"/>
            <a:ext cx="3328416" cy="9235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00" b="0">
                <a:solidFill>
                  <a:srgbClr val="DDCFBE"/>
                </a:solidFill>
                <a:latin typeface="Liberation Sans"/>
              </a:rPr>
              <a:t>Contratos e rendas incorporam mecanismos de correção.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87184" y="4562856"/>
            <a:ext cx="4370832" cy="1618488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187184" y="4562856"/>
            <a:ext cx="91440" cy="1618488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920" y="4727448"/>
            <a:ext cx="603504" cy="3931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150" b="1">
                <a:solidFill>
                  <a:srgbClr val="E1C18A"/>
                </a:solidFill>
                <a:latin typeface="Liberation Sans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9288" y="4736592"/>
            <a:ext cx="338328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900" b="1">
                <a:solidFill>
                  <a:srgbClr val="F5E9DB"/>
                </a:solidFill>
                <a:latin typeface="Liberation Sans"/>
              </a:rPr>
              <a:t>NOVOS PREÇOS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9288" y="5193792"/>
            <a:ext cx="3328416" cy="9235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00" b="0">
                <a:solidFill>
                  <a:srgbClr val="DDCFBE"/>
                </a:solidFill>
                <a:latin typeface="Liberation Sans"/>
              </a:rPr>
              <a:t>Os reajustes difundem a inflação anterior para preços e contratos.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" y="4562856"/>
            <a:ext cx="4370832" cy="1618488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" y="4562856"/>
            <a:ext cx="91440" cy="1618488"/>
          </a:xfrm>
          <a:prstGeom prst="rect">
            <a:avLst/>
          </a:prstGeom>
          <a:solidFill>
            <a:srgbClr val="A44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" y="4727448"/>
            <a:ext cx="603504" cy="3931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150" b="1">
                <a:solidFill>
                  <a:srgbClr val="E1C18A"/>
                </a:solidFill>
                <a:latin typeface="Liberation Sans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44752" y="4736592"/>
            <a:ext cx="338328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900" b="1">
                <a:solidFill>
                  <a:srgbClr val="F5E9DB"/>
                </a:solidFill>
                <a:latin typeface="Liberation Sans"/>
              </a:rPr>
              <a:t>INFLAÇÃO SEGUINTE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44752" y="5193792"/>
            <a:ext cx="3328416" cy="9235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00" b="0">
                <a:solidFill>
                  <a:srgbClr val="DDCFBE"/>
                </a:solidFill>
                <a:latin typeface="Liberation Sans"/>
              </a:rPr>
              <a:t>A indexação periódica transmite parte da inflação passada ao período seguinte, sustentando sua inércia.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5166360" y="3264408"/>
            <a:ext cx="1856231" cy="237744"/>
          </a:xfrm>
          <a:prstGeom prst="rightArrow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own Arrow 49"/>
          <p:cNvSpPr/>
          <p:nvPr/>
        </p:nvSpPr>
        <p:spPr>
          <a:xfrm>
            <a:off x="9281160" y="4114800"/>
            <a:ext cx="246888" cy="393192"/>
          </a:xfrm>
          <a:prstGeom prst="downArrow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Left Arrow 50"/>
          <p:cNvSpPr/>
          <p:nvPr/>
        </p:nvSpPr>
        <p:spPr>
          <a:xfrm>
            <a:off x="5166360" y="5285232"/>
            <a:ext cx="1856231" cy="237744"/>
          </a:xfrm>
          <a:prstGeom prst="leftArrow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Up Arrow 51"/>
          <p:cNvSpPr/>
          <p:nvPr/>
        </p:nvSpPr>
        <p:spPr>
          <a:xfrm>
            <a:off x="2688336" y="4114800"/>
            <a:ext cx="246888" cy="393192"/>
          </a:xfrm>
          <a:prstGeom prst="upArrow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Fonte: Giambiagi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(2011, cap. 5).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02 · CONDIÇÕES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" y="1344168"/>
            <a:ext cx="4599432" cy="4928616"/>
          </a:xfrm>
          <a:prstGeom prst="rect">
            <a:avLst/>
          </a:prstGeom>
          <a:solidFill>
            <a:srgbClr val="0B0E14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lide_11_sem_distor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76172"/>
            <a:ext cx="4535424" cy="420624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71500" y="5577840"/>
            <a:ext cx="4535424" cy="658368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650992"/>
            <a:ext cx="4343400" cy="32004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F5E9DB"/>
                </a:solidFill>
                <a:latin typeface="Liberation Sans"/>
              </a:rPr>
              <a:t>Resolução CMN nº 962, de 12 de setembro de 1984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5998464"/>
            <a:ext cx="4343400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70" b="0">
                <a:solidFill>
                  <a:srgbClr val="CBA04D"/>
                </a:solidFill>
                <a:latin typeface="Liberation Mono"/>
              </a:rPr>
              <a:t>Banco Central do Brasil · documento oficial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3248" y="1453896"/>
            <a:ext cx="627278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ATIVOS FINANCEIROS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1783080"/>
            <a:ext cx="6080760" cy="1042415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800" b="1">
                <a:solidFill>
                  <a:srgbClr val="F5E9DB"/>
                </a:solidFill>
                <a:latin typeface="Liberation Sans"/>
              </a:rPr>
              <a:t>Títulos públicos: proteção, segurança e liquidez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13248" y="2898648"/>
            <a:ext cx="6099048" cy="3200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04103" y="3191256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2704" y="3099815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10" b="0">
                <a:solidFill>
                  <a:srgbClr val="F5E9DB"/>
                </a:solidFill>
                <a:latin typeface="Liberation Sans"/>
              </a:rPr>
              <a:t>O governo recorreu cada vez mais a títulos com correção monetária.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04103" y="3963924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32704" y="3872484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10" b="0">
                <a:solidFill>
                  <a:srgbClr val="F5E9DB"/>
                </a:solidFill>
                <a:latin typeface="Liberation Sans"/>
              </a:rPr>
              <a:t>Esses títulos combinavam segurança, liquidez e proteção inflacionária.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4103" y="4736592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32704" y="4645152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10" b="0">
                <a:solidFill>
                  <a:srgbClr val="F5E9DB"/>
                </a:solidFill>
                <a:latin typeface="Liberation Sans"/>
              </a:rPr>
              <a:t>Na interpretação ortodoxa apresentada por Lacerda, títulos de prazo curto passaram a funcionar como quase-moeda.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04103" y="5509259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2704" y="5417820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10" b="0">
                <a:solidFill>
                  <a:srgbClr val="F5E9DB"/>
                </a:solidFill>
                <a:latin typeface="Liberation Sans"/>
              </a:rPr>
              <a:t>Sua rentabilidade tornou-se referência mínima para outras aplicações.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Fonte: Lacerda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(2010, seções 12.2–12.3).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11 / 23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0" y="3575304"/>
            <a:ext cx="3602736" cy="1865376"/>
          </a:xfrm>
          <a:prstGeom prst="rect">
            <a:avLst/>
          </a:prstGeom>
          <a:solidFill>
            <a:srgbClr val="35242B"/>
          </a:solidFill>
          <a:ln w="19050">
            <a:solidFill>
              <a:srgbClr val="CBA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371600" y="3575304"/>
            <a:ext cx="73152" cy="1865376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45336" y="3730752"/>
            <a:ext cx="32735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CBA04D"/>
                </a:solidFill>
                <a:latin typeface="Liberation Mono"/>
              </a:rPr>
              <a:t>RESOLUÇÃO Nº 962/1984 · I, 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36192" y="4059936"/>
            <a:ext cx="326440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25" b="1">
                <a:solidFill>
                  <a:srgbClr val="F5E9DB"/>
                </a:solidFill>
                <a:latin typeface="Liberation Sans"/>
              </a:rPr>
              <a:t>“com base em Letras do Tesouro Nacional e Obrigações Reajustáveis do Tesouro Nacional”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45336" y="5102352"/>
            <a:ext cx="3273552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35" b="0">
                <a:solidFill>
                  <a:srgbClr val="DDCFBE"/>
                </a:solidFill>
                <a:latin typeface="Liberation Sans"/>
              </a:rPr>
              <a:t>Trecho transcrito do documento oficial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02 · CONDIÇÕES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" y="1344168"/>
            <a:ext cx="4599432" cy="4928616"/>
          </a:xfrm>
          <a:prstGeom prst="rect">
            <a:avLst/>
          </a:prstGeom>
          <a:solidFill>
            <a:srgbClr val="0B0E14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lide_12_sem_distor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76172"/>
            <a:ext cx="4535424" cy="3038734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71500" y="5577840"/>
            <a:ext cx="4535424" cy="658368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650992"/>
            <a:ext cx="4343400" cy="32004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F5E9DB"/>
                </a:solidFill>
                <a:latin typeface="Liberation Sans"/>
              </a:rPr>
              <a:t>Publicidade de aplicações financeiras do Itaú (anos 1980)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5998464"/>
            <a:ext cx="4343400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50" b="0">
                <a:solidFill>
                  <a:srgbClr val="E1C18A"/>
                </a:solidFill>
                <a:latin typeface="Liberation Mono"/>
              </a:rPr>
              <a:t>Acervo Itaú Unibanco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3248" y="1453896"/>
            <a:ext cx="627278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MUDANÇA DE DESTINO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1783080"/>
            <a:ext cx="6080760" cy="1042415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800" b="1">
                <a:solidFill>
                  <a:srgbClr val="F5E9DB"/>
                </a:solidFill>
                <a:latin typeface="Liberation Sans"/>
              </a:rPr>
              <a:t>Do excedente empresarial à aplicação financeira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13248" y="2898648"/>
            <a:ext cx="6099048" cy="3200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04103" y="3191256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2704" y="3099815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A recessão de 1981–1983 reduz as oportunidades de expansão produtiva.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04103" y="3963924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32704" y="3872484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Grandes empresas acumulam lucros e recursos superiores às suas expectativas de investimento.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4103" y="4736592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32704" y="4645152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Parte desse capital excedente é direcionada para aplicações financeiras.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04103" y="5509259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2704" y="5417820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As atividades financeiras ganham importância dentro da estratégia empresarial.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Fonte: Lacerda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(2010, seção 12.3).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12 / 23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1500" y="4462272"/>
            <a:ext cx="4535424" cy="1101852"/>
          </a:xfrm>
          <a:prstGeom prst="rect">
            <a:avLst/>
          </a:prstGeom>
          <a:solidFill>
            <a:srgbClr val="352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71500" y="4462272"/>
            <a:ext cx="66751" cy="1101852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558284"/>
            <a:ext cx="4215384" cy="192024"/>
          </a:xfrm>
          <a:prstGeom prst="rect">
            <a:avLst/>
          </a:prstGeom>
          <a:noFill/>
        </p:spPr>
        <p:txBody>
          <a:bodyPr wrap="square" lIns="16459" rIns="16459" tIns="0" bIns="0">
            <a:spAutoFit/>
          </a:bodyPr>
          <a:lstStyle/>
          <a:p>
            <a:r>
              <a:rPr sz="980" b="1">
                <a:solidFill>
                  <a:srgbClr val="E1C18A"/>
                </a:solidFill>
                <a:latin typeface="Liberation Mono"/>
              </a:rPr>
              <a:t>CHAMADA DA PUBLICIDADE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796028"/>
            <a:ext cx="4151376" cy="649224"/>
          </a:xfrm>
          <a:prstGeom prst="rect">
            <a:avLst/>
          </a:prstGeom>
          <a:noFill/>
        </p:spPr>
        <p:txBody>
          <a:bodyPr wrap="square" lIns="16459" rIns="16459" tIns="0" bIns="0">
            <a:spAutoFit/>
          </a:bodyPr>
          <a:lstStyle/>
          <a:p>
            <a:r>
              <a:rPr sz="1550" b="1">
                <a:solidFill>
                  <a:srgbClr val="F5E9DB"/>
                </a:solidFill>
                <a:latin typeface="Liberation Sans"/>
              </a:rPr>
              <a:t>“Todo cliente Itaú tem um amigo que entende de investimentos como ninguém.”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2487168" cy="6858000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87168" y="0"/>
            <a:ext cx="173736" cy="6858000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1014984"/>
            <a:ext cx="2075688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0" b="1">
                <a:solidFill>
                  <a:srgbClr val="F5E9DB"/>
                </a:solidFill>
                <a:latin typeface="Liberation San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" y="4672584"/>
            <a:ext cx="1892807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10" b="1">
                <a:solidFill>
                  <a:srgbClr val="F5E9DB"/>
                </a:solidFill>
              </a:rPr>
              <a:t>ARQUIVO ECONÔMICO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93192"/>
            <a:ext cx="5120640" cy="228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DDCFBE"/>
                </a:solidFill>
                <a:latin typeface="Liberation Mono"/>
              </a:rPr>
              <a:t>ECONOMIA BRASILEIRA II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393192"/>
            <a:ext cx="2176272" cy="228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200" b="0">
                <a:solidFill>
                  <a:srgbClr val="E1C18A"/>
                </a:solidFill>
                <a:latin typeface="Liberation Mono"/>
              </a:rPr>
              <a:t>CAPÍTULO 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740664"/>
            <a:ext cx="8513064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1417320"/>
            <a:ext cx="5394960" cy="292608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9816" y="1453896"/>
            <a:ext cx="7863840" cy="2011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10" b="1">
                <a:solidFill>
                  <a:srgbClr val="1B1716"/>
                </a:solidFill>
                <a:latin typeface="Liberation Sans"/>
              </a:rPr>
              <a:t>FUNCIONAMENTO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1993392"/>
            <a:ext cx="8394192" cy="24871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4600" b="1">
                <a:solidFill>
                  <a:srgbClr val="F5E9DB"/>
                </a:solidFill>
                <a:latin typeface="Liberation Sans"/>
              </a:rPr>
              <a:t>O FUNCIONAMENTO DA ESPECULAÇÃO FINANCEIRA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6664" y="5093208"/>
            <a:ext cx="1993392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5175504"/>
            <a:ext cx="1746504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CAPITAL PRODUTIVO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129784" y="5093208"/>
            <a:ext cx="2075688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5175504"/>
            <a:ext cx="1828800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AJUSTE PATRIMONIAL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5093208"/>
            <a:ext cx="1335024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43216" y="5175504"/>
            <a:ext cx="1088136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OVERNIGHT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59952" y="5093208"/>
            <a:ext cx="1252728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87968" y="5175504"/>
            <a:ext cx="1005840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PROTEÇÃO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5751576"/>
            <a:ext cx="8924544" cy="28346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5902452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F5E0C0"/>
                </a:solidFill>
                <a:latin typeface="Aptos"/>
              </a:rPr>
              <a:t>SEMINARISTA · MARCOS VINICIUS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79024" y="5971032"/>
            <a:ext cx="1060704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00" b="0">
                <a:solidFill>
                  <a:srgbClr val="E1C18A"/>
                </a:solidFill>
                <a:latin typeface="Liberation Mono"/>
              </a:rPr>
              <a:t>13 / 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5184648"/>
            <a:ext cx="19202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E1C18A"/>
                </a:solidFill>
                <a:latin typeface="Liberation Mono"/>
              </a:rPr>
              <a:t>1980 — 1989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03 · FUNCIONAMENTO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" y="1344168"/>
            <a:ext cx="4599432" cy="4928616"/>
          </a:xfrm>
          <a:prstGeom prst="rect">
            <a:avLst/>
          </a:prstGeom>
          <a:solidFill>
            <a:srgbClr val="0B0E14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lide_14_sem_distor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76172"/>
            <a:ext cx="4535424" cy="420624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71500" y="5577840"/>
            <a:ext cx="4535424" cy="658368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650992"/>
            <a:ext cx="4343400" cy="32004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F5E9DB"/>
                </a:solidFill>
                <a:latin typeface="Liberation Sans"/>
              </a:rPr>
              <a:t>Linha de produção do Gol em Taubaté (anos 1980)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5998464"/>
            <a:ext cx="4343400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70" b="0">
                <a:solidFill>
                  <a:srgbClr val="CBA04D"/>
                </a:solidFill>
                <a:latin typeface="Liberation Mono"/>
              </a:rPr>
              <a:t>Volkswagen · reprodução Vrum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3248" y="1453896"/>
            <a:ext cx="627278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ARTICULAÇÃO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1783080"/>
            <a:ext cx="6080760" cy="1042415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800" b="1">
                <a:solidFill>
                  <a:srgbClr val="F5E9DB"/>
                </a:solidFill>
                <a:latin typeface="Liberation Sans"/>
              </a:rPr>
              <a:t>Capital produtivo e capital especulativo se aproximam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13248" y="2898648"/>
            <a:ext cx="6099048" cy="3200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04103" y="3191256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2704" y="3099815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A especulação financeira não se restringe a bancos ou investidores especializados.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04103" y="3963924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32704" y="3872484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Grandes empresas produtivas passam a direcionar parte de seus recursos ao mercado financeiro.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4103" y="4736592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32704" y="4645152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Recursos originados na produção passam a buscar retorno financeiro fora do investimento produtivo.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04103" y="5509259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2704" y="5417820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Isso amplia a articulação entre capital produtivo e capital especulativo.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Fonte: Lacerda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(2010, seção 12.3).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03 · FUNCIONAMENTO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185416"/>
            <a:ext cx="3227832" cy="3246120"/>
          </a:xfrm>
          <a:prstGeom prst="rect">
            <a:avLst/>
          </a:prstGeom>
          <a:solidFill>
            <a:srgbClr val="0B0E14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lide_15_sem_distor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2217420"/>
            <a:ext cx="3163824" cy="2523744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80644" y="4736592"/>
            <a:ext cx="3163824" cy="658368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4809744"/>
            <a:ext cx="2971800" cy="32004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F5E9DB"/>
                </a:solidFill>
                <a:latin typeface="Liberation Sans"/>
              </a:rPr>
              <a:t>Trabalhadores junto à Mercedes-Benz, São Bernardo (1981)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5157216"/>
            <a:ext cx="2971800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70" b="0">
                <a:solidFill>
                  <a:srgbClr val="CBA04D"/>
                </a:solidFill>
                <a:latin typeface="Liberation Mono"/>
              </a:rPr>
              <a:t>Folhapress · 1981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0791" y="1344168"/>
            <a:ext cx="740664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RECESSÃO 1981–1983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0791" y="1691640"/>
            <a:ext cx="7370064" cy="9692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850" b="1">
                <a:solidFill>
                  <a:srgbClr val="F5E9DB"/>
                </a:solidFill>
                <a:latin typeface="Liberation Sans"/>
              </a:rPr>
              <a:t>O ajuste patrimonial das grandes empresas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50791" y="2670048"/>
            <a:ext cx="3529584" cy="54864"/>
          </a:xfrm>
          <a:prstGeom prst="rect">
            <a:avLst/>
          </a:prstGeom>
          <a:solidFill>
            <a:srgbClr val="A44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0791" y="2807208"/>
            <a:ext cx="3529584" cy="5852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F5E9DB"/>
                </a:solidFill>
                <a:latin typeface="Liberation Sans"/>
              </a:rPr>
              <a:t>O QUE MUDOU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69079" y="3657600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79" y="3566160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Reorganizam balanços durante a recessão.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69079" y="4468368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79" y="4376928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Reduzem dívidas e melhoram indicadores.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69079" y="5279136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5187696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Algumas recuperam margens e lucros.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2670048"/>
            <a:ext cx="3529584" cy="5486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8120" y="2807208"/>
            <a:ext cx="3529584" cy="5852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F5E9DB"/>
                </a:solidFill>
                <a:latin typeface="Liberation Sans"/>
              </a:rPr>
              <a:t>O PAPEL DAS FINANÇAS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36408" y="3657600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65008" y="3566160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Ganhos financeiros pesam mais nos resultados.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36408" y="4468368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5008" y="4376928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Em certos casos, superam ganhos operacionais.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36408" y="5279136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65008" y="5187696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Os efeitos da crise variam entre empresas.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50791" y="5861304"/>
            <a:ext cx="7315200" cy="566928"/>
          </a:xfrm>
          <a:prstGeom prst="rect">
            <a:avLst/>
          </a:prstGeom>
          <a:solidFill>
            <a:srgbClr val="51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50791" y="5861304"/>
            <a:ext cx="91440" cy="566928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70248" y="5916168"/>
            <a:ext cx="6912864" cy="4846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639" b="1">
                <a:solidFill>
                  <a:srgbClr val="F5E9DB"/>
                </a:solidFill>
                <a:latin typeface="Liberation Sans"/>
              </a:rPr>
              <a:t>Mesmo na recessão, parte das grandes empresas ajustou os balanços e obteve ganhos financeiros.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Fonte: Lacerda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(2010, seção 12.3).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03 · FUNCIONAMENTO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1133856"/>
            <a:ext cx="93268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FLUXO FINANCEIRO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" y="1463040"/>
            <a:ext cx="10991088" cy="8321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3500" b="0">
                <a:solidFill>
                  <a:srgbClr val="F5E9DB"/>
                </a:solidFill>
                <a:latin typeface="Liberation Sans"/>
              </a:rPr>
              <a:t>Overnight, títulos públicos e quase-moeda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2386584"/>
            <a:ext cx="10817352" cy="877824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2386584"/>
            <a:ext cx="100584" cy="87782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2569464"/>
            <a:ext cx="640080" cy="3749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400" b="1">
                <a:solidFill>
                  <a:srgbClr val="E1C18A"/>
                </a:solidFill>
                <a:latin typeface="Liberation San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4792" y="2551176"/>
            <a:ext cx="3273552" cy="4297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910" b="1">
                <a:solidFill>
                  <a:srgbClr val="F5E9DB"/>
                </a:solidFill>
                <a:latin typeface="Liberation Sans"/>
              </a:rPr>
              <a:t>DÍVIDA INDEXADA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65776" y="2514600"/>
            <a:ext cx="6044184" cy="62179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Na leitura ortodoxa de Lacerda, a dívida pública tornou-se mais indexada.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3374136"/>
            <a:ext cx="10817352" cy="877824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3374136"/>
            <a:ext cx="100584" cy="87782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3557016"/>
            <a:ext cx="640080" cy="3749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400" b="1">
                <a:solidFill>
                  <a:srgbClr val="E1C18A"/>
                </a:solidFill>
                <a:latin typeface="Liberation San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64792" y="3538728"/>
            <a:ext cx="3273552" cy="4297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910" b="1">
                <a:solidFill>
                  <a:srgbClr val="F5E9DB"/>
                </a:solidFill>
                <a:latin typeface="Liberation Sans"/>
              </a:rPr>
              <a:t>PRAZOS MENORES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65776" y="3502152"/>
            <a:ext cx="6044184" cy="62179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Os títulos passaram a ser renovados em prazos cada vez menores.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361688"/>
            <a:ext cx="10817352" cy="877824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4361688"/>
            <a:ext cx="100584" cy="877824"/>
          </a:xfrm>
          <a:prstGeom prst="rect">
            <a:avLst/>
          </a:prstGeom>
          <a:solidFill>
            <a:srgbClr val="A44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544568"/>
            <a:ext cx="640080" cy="3749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400" b="1">
                <a:solidFill>
                  <a:srgbClr val="E1C18A"/>
                </a:solidFill>
                <a:latin typeface="Liberation Sans"/>
              </a:rP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64792" y="4526279"/>
            <a:ext cx="3273552" cy="4297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910" b="1">
                <a:solidFill>
                  <a:srgbClr val="F5E9DB"/>
                </a:solidFill>
                <a:latin typeface="Liberation Sans"/>
              </a:rPr>
              <a:t>OVERNIGHT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65776" y="4489703"/>
            <a:ext cx="6044184" cy="62179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r>
              <a:rPr sz="1700">
                <a:solidFill>
                  <a:srgbClr val="F5E9DB"/>
                </a:solidFill>
              </a:rPr>
              <a:t>A rolagem diária (overnight) reunia liquidez e proteção inflacionária.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349240"/>
            <a:ext cx="10817352" cy="877824"/>
          </a:xfrm>
          <a:prstGeom prst="rect">
            <a:avLst/>
          </a:prstGeom>
          <a:solidFill>
            <a:srgbClr val="4C252D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8368" y="5349240"/>
            <a:ext cx="100584" cy="87782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532120"/>
            <a:ext cx="640080" cy="3749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400" b="1">
                <a:solidFill>
                  <a:srgbClr val="E1C18A"/>
                </a:solidFill>
                <a:latin typeface="Liberation Sans"/>
              </a:rPr>
              <a:t>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64792" y="5513831"/>
            <a:ext cx="3273552" cy="4297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910" b="0">
                <a:solidFill>
                  <a:srgbClr val="F5E9DB"/>
                </a:solidFill>
                <a:latin typeface="Liberation Sans"/>
              </a:rPr>
              <a:t>QUASE-MOEDA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65776" y="5477255"/>
            <a:ext cx="6044184" cy="621792"/>
          </a:xfrm>
          <a:prstGeom prst="rect">
            <a:avLst/>
          </a:prstGeom>
          <a:noFill/>
        </p:spPr>
        <p:txBody>
          <a:bodyPr wrap="square" lIns="0" rIns="0" tIns="9144" bIns="9144" anchor="ctr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Esses papéis passaram a funcionar como unidade de conta e reserva de valor.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Fonte: Lacerda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(2010, seção 12.2).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03 · FUNCIONAMENTO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185416"/>
            <a:ext cx="3227832" cy="3246120"/>
          </a:xfrm>
          <a:prstGeom prst="rect">
            <a:avLst/>
          </a:prstGeom>
          <a:solidFill>
            <a:srgbClr val="0B0E14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lide_17_sem_distor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2217420"/>
            <a:ext cx="3163824" cy="2523744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80644" y="4736592"/>
            <a:ext cx="3163824" cy="658368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4809744"/>
            <a:ext cx="2971800" cy="32004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F5E9DB"/>
                </a:solidFill>
                <a:latin typeface="Liberation Sans"/>
              </a:rPr>
              <a:t>Campanha salarial dos metalúrgicos brasileiros (1985)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5157216"/>
            <a:ext cx="2971800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25" b="0">
                <a:solidFill>
                  <a:srgbClr val="CBA04D"/>
                </a:solidFill>
                <a:latin typeface="Liberation Mono"/>
              </a:rPr>
              <a:t>Acervo sindical / Simon Fraser University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0791" y="1344168"/>
            <a:ext cx="740664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INFLAÇÃO E PROTEÇÃO PATRIMONIAL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0791" y="1691640"/>
            <a:ext cx="7370064" cy="9692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850" b="1">
                <a:solidFill>
                  <a:srgbClr val="F5E9DB"/>
                </a:solidFill>
                <a:latin typeface="Liberation Sans"/>
              </a:rPr>
              <a:t>A proteção contra a inflação era desigual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50791" y="2670048"/>
            <a:ext cx="3529584" cy="54864"/>
          </a:xfrm>
          <a:prstGeom prst="rect">
            <a:avLst/>
          </a:prstGeom>
          <a:solidFill>
            <a:srgbClr val="A44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0791" y="2807208"/>
            <a:ext cx="3529584" cy="5852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F5E9DB"/>
                </a:solidFill>
                <a:latin typeface="Liberation Sans"/>
              </a:rPr>
              <a:t>MAIOR PROTEÇÃO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69079" y="3657600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79" y="3566160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0">
                <a:solidFill>
                  <a:srgbClr val="DDCFBE"/>
                </a:solidFill>
                <a:latin typeface="Liberation Sans"/>
              </a:rPr>
              <a:t>Grandes empresas e instituições financeiras.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69079" y="4468368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79" y="4376928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0">
                <a:solidFill>
                  <a:srgbClr val="DDCFBE"/>
                </a:solidFill>
                <a:latin typeface="Liberation Sans"/>
              </a:rPr>
              <a:t>Detentores de ativos indexados.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69079" y="5279136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5187696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Agentes com acesso a aplicações financeiras.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2670048"/>
            <a:ext cx="3529584" cy="5486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8120" y="2807208"/>
            <a:ext cx="3529584" cy="5852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F5E9DB"/>
                </a:solidFill>
                <a:latin typeface="Liberation Sans"/>
              </a:rPr>
              <a:t>MENOR PROTEÇÃO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36408" y="3657600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65008" y="3566160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0">
                <a:solidFill>
                  <a:srgbClr val="DDCFBE"/>
                </a:solidFill>
                <a:latin typeface="Liberation Sans"/>
              </a:rPr>
              <a:t>Assalariados e pequenas empresas.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36408" y="4468368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5008" y="4376928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Locadores sujeitos à perda de renda real.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36408" y="5279136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65008" y="5187696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0">
                <a:solidFill>
                  <a:srgbClr val="DDCFBE"/>
                </a:solidFill>
                <a:latin typeface="Liberation Sans"/>
              </a:rPr>
              <a:t>Empresas públicas com tarifas controladas.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50791" y="5861304"/>
            <a:ext cx="7315200" cy="566928"/>
          </a:xfrm>
          <a:prstGeom prst="rect">
            <a:avLst/>
          </a:prstGeom>
          <a:solidFill>
            <a:srgbClr val="51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50791" y="5861304"/>
            <a:ext cx="91440" cy="566928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70248" y="5916168"/>
            <a:ext cx="6912864" cy="4846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639" b="1">
                <a:solidFill>
                  <a:srgbClr val="F5E9DB"/>
                </a:solidFill>
                <a:latin typeface="Liberation Sans"/>
              </a:rPr>
              <a:t>A inflação distribuía custos e oportunidades financeiras de forma desigual.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Fonte: Lacerda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(2010, seção 12.3).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2487168" cy="6858000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87168" y="0"/>
            <a:ext cx="173736" cy="6858000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1014984"/>
            <a:ext cx="2075688" cy="1298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0" b="1">
                <a:solidFill>
                  <a:srgbClr val="F5E9DB"/>
                </a:solidFill>
                <a:latin typeface="Liberation San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" y="4672584"/>
            <a:ext cx="1892807" cy="557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10" b="1">
                <a:solidFill>
                  <a:srgbClr val="F5E9DB"/>
                </a:solidFill>
              </a:rPr>
              <a:t>ARQUIVO ECONÔMICO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393192"/>
            <a:ext cx="5120640" cy="228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DDCFBE"/>
                </a:solidFill>
                <a:latin typeface="Liberation Mono"/>
              </a:rPr>
              <a:t>ECONOMIA BRASILEIRA II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393192"/>
            <a:ext cx="2176272" cy="2286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200" b="0">
                <a:solidFill>
                  <a:srgbClr val="E1C18A"/>
                </a:solidFill>
                <a:latin typeface="Liberation Mono"/>
              </a:rPr>
              <a:t>CAPÍTULO 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740664"/>
            <a:ext cx="8513064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017520" y="1417320"/>
            <a:ext cx="5394960" cy="292608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9816" y="1453896"/>
            <a:ext cx="7863840" cy="2011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210" b="1"/>
              <a:t>SÍNTESE E DESFECHOS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1993392"/>
            <a:ext cx="8394192" cy="24871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4600" b="1">
                <a:solidFill>
                  <a:srgbClr val="F5E9DB"/>
                </a:solidFill>
                <a:latin typeface="Liberation Sans"/>
              </a:rPr>
              <a:t>CONSEQUÊNCIAS E CONSIDERAÇÕES FINAIS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6664" y="5093208"/>
            <a:ext cx="1746504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5175504"/>
            <a:ext cx="1499616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AJUSTE PRIVADO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82896" y="5093208"/>
            <a:ext cx="2240279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10912" y="5175504"/>
            <a:ext cx="1993391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DETERIORAÇÃO PÚBLICA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32904" y="5093208"/>
            <a:ext cx="1828800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60920" y="5175504"/>
            <a:ext cx="1581912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FINANCEIRIZAÇÃO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71432" y="5093208"/>
            <a:ext cx="1581912" cy="393192"/>
          </a:xfrm>
          <a:prstGeom prst="rect">
            <a:avLst/>
          </a:prstGeom>
          <a:solidFill>
            <a:srgbClr val="211A1C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99448" y="5175504"/>
            <a:ext cx="1335024" cy="237744"/>
          </a:xfrm>
          <a:prstGeom prst="rect">
            <a:avLst/>
          </a:prstGeom>
          <a:noFill/>
        </p:spPr>
        <p:txBody>
          <a:bodyPr wrap="non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DDCFBE"/>
                </a:solidFill>
                <a:latin typeface="Liberation Sans"/>
              </a:rPr>
              <a:t>DESIGUALDADE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5751576"/>
            <a:ext cx="8924544" cy="28346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26664" y="5902452"/>
            <a:ext cx="5852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>
                <a:solidFill>
                  <a:srgbClr val="F5E0C0"/>
                </a:solidFill>
                <a:latin typeface="Aptos"/>
              </a:rPr>
              <a:t>SEMINARISTA · RODOLFO COLOMBO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79024" y="5971032"/>
            <a:ext cx="1060704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00" b="0">
                <a:solidFill>
                  <a:srgbClr val="E1C18A"/>
                </a:solidFill>
                <a:latin typeface="Liberation Mono"/>
              </a:rPr>
              <a:t>18 / 23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5184648"/>
            <a:ext cx="19202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E1C18A"/>
                </a:solidFill>
                <a:latin typeface="Liberation Mono"/>
              </a:rPr>
              <a:t>1980 — 1989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04 · CONSEQUÊNCIAS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185416"/>
            <a:ext cx="3227832" cy="3246120"/>
          </a:xfrm>
          <a:prstGeom prst="rect">
            <a:avLst/>
          </a:prstGeom>
          <a:solidFill>
            <a:srgbClr val="0B0E14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lide_19_sem_distor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2217420"/>
            <a:ext cx="3163824" cy="2523744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80644" y="4736592"/>
            <a:ext cx="3163824" cy="658368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4809744"/>
            <a:ext cx="2971800" cy="32004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F5E9DB"/>
                </a:solidFill>
                <a:latin typeface="Liberation Sans"/>
              </a:rPr>
              <a:t>Pronunciamento de Sarney sobre a moratória (1987)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5157216"/>
            <a:ext cx="2971800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70" b="0">
                <a:solidFill>
                  <a:srgbClr val="CBA04D"/>
                </a:solidFill>
                <a:latin typeface="Liberation Mono"/>
              </a:rPr>
              <a:t>Memorial da Democracia · 1987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0791" y="1344168"/>
            <a:ext cx="740664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EFEITOS ASSIMÉTRICOS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0791" y="1691640"/>
            <a:ext cx="7370064" cy="9692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850" b="1">
                <a:solidFill>
                  <a:srgbClr val="F5E9DB"/>
                </a:solidFill>
                <a:latin typeface="Liberation Sans"/>
              </a:rPr>
              <a:t>Ajuste privado e deterioração pública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50791" y="2670048"/>
            <a:ext cx="3529584" cy="54864"/>
          </a:xfrm>
          <a:prstGeom prst="rect">
            <a:avLst/>
          </a:prstGeom>
          <a:solidFill>
            <a:srgbClr val="A44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0791" y="2807208"/>
            <a:ext cx="3529584" cy="5852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F5E9DB"/>
                </a:solidFill>
                <a:latin typeface="Liberation Sans"/>
              </a:rPr>
              <a:t>GRANDES EMPRESAS PRIVADAS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69079" y="3657600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79" y="3566160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Menor endividamento.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69079" y="4468368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79" y="4376928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Melhoria dos balanços.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69079" y="5279136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5187696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Ganhos financeiros apoiam o ajuste.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2670048"/>
            <a:ext cx="3529584" cy="5486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8120" y="2807208"/>
            <a:ext cx="3529584" cy="5852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F5E9DB"/>
                </a:solidFill>
                <a:latin typeface="Liberation Sans"/>
              </a:rPr>
              <a:t>CONTAS PÚBLICAS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36408" y="3657600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65008" y="3566160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Agravamento das contas públicas.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36408" y="4468368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5008" y="4376928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Pressões das dívidas externa e interna.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36408" y="5279136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65008" y="5187696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Para Lacerda, a dívida externa foi quase toda estatizada.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50791" y="5861304"/>
            <a:ext cx="7315200" cy="566928"/>
          </a:xfrm>
          <a:prstGeom prst="rect">
            <a:avLst/>
          </a:prstGeom>
          <a:solidFill>
            <a:srgbClr val="51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50791" y="5861304"/>
            <a:ext cx="91440" cy="566928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70248" y="5916168"/>
            <a:ext cx="6912864" cy="4846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639" b="1">
                <a:solidFill>
                  <a:srgbClr val="F5E9DB"/>
                </a:solidFill>
                <a:latin typeface="Liberation Sans"/>
              </a:rPr>
              <a:t>Parte do setor privado melhorou seus balanços, enquanto aumentavam as pressões sobre o setor público.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Fonte: Lacerda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(2010, seções 12.2–12.3).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04 · CONSEQUÊNCIAS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496" y="1344168"/>
            <a:ext cx="4599432" cy="4928616"/>
          </a:xfrm>
          <a:prstGeom prst="rect">
            <a:avLst/>
          </a:prstGeom>
          <a:solidFill>
            <a:srgbClr val="0B0E14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lide_20_sem_distor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76172"/>
            <a:ext cx="4535424" cy="4206240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71500" y="5577840"/>
            <a:ext cx="4535424" cy="658368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650992"/>
            <a:ext cx="4343400" cy="32004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F5E9DB"/>
                </a:solidFill>
                <a:latin typeface="Liberation Sans"/>
              </a:rPr>
              <a:t>Retomada de operações na Bolsa do Rio, junho de 1989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" y="5998464"/>
            <a:ext cx="4343400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50" b="0">
                <a:solidFill>
                  <a:srgbClr val="E1C18A"/>
                </a:solidFill>
                <a:latin typeface="Liberation Mono"/>
              </a:rPr>
              <a:t>O Liberal, 14/06/1989, p. 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13248" y="1453896"/>
            <a:ext cx="627278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EXPANSÃO FINANCEIRA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3248" y="1783080"/>
            <a:ext cx="6080760" cy="1042415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3000" b="0">
                <a:solidFill>
                  <a:srgbClr val="F5E9DB"/>
                </a:solidFill>
                <a:latin typeface="Liberation Sans"/>
              </a:rPr>
              <a:t>Um sistema financeiro hiperdesenvolvido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13248" y="2898648"/>
            <a:ext cx="6099048" cy="3200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04103" y="3191256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32704" y="3099815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A inflação elevada e a expansão das atividades especulativas aumentam o peso do sistema financeiro na economia.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04103" y="3963924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32704" y="3872484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Sua participação no PIB torna-se elevada mesmo quando comparada à de países desenvolvidos.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04103" y="4736592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32704" y="4645152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639" b="0">
                <a:solidFill>
                  <a:srgbClr val="F5E9DB"/>
                </a:solidFill>
                <a:latin typeface="Liberation Sans"/>
              </a:rPr>
              <a:t>Lacerda descreve esse sistema como hiperdesenvolvido.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04103" y="5509259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2704" y="5417820"/>
            <a:ext cx="5769864" cy="6995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635" b="0">
                <a:solidFill>
                  <a:srgbClr val="F5E9DB"/>
                </a:solidFill>
                <a:latin typeface="Liberation Sans"/>
              </a:rPr>
              <a:t>Essa expansão é associada à concentração de renda e de poder político.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Fonte: Lacerda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(2010, seção 12.3).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04 · CONSEQUÊNCIAS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2185416"/>
            <a:ext cx="3227832" cy="3246120"/>
          </a:xfrm>
          <a:prstGeom prst="rect">
            <a:avLst/>
          </a:prstGeom>
          <a:solidFill>
            <a:srgbClr val="0B0E14"/>
          </a:solidFill>
          <a:ln w="8890">
            <a:solidFill>
              <a:srgbClr val="373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slide_21_sem_distor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2217420"/>
            <a:ext cx="3163824" cy="2523744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580644" y="4736592"/>
            <a:ext cx="3163824" cy="658368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" y="4809744"/>
            <a:ext cx="2971800" cy="32004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F5E9DB"/>
                </a:solidFill>
                <a:latin typeface="Liberation Sans"/>
              </a:rPr>
              <a:t>Trabalhadores da COSIPA em Cubatão (1984)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" y="5157216"/>
            <a:ext cx="2971800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70" b="0">
                <a:solidFill>
                  <a:srgbClr val="CBA04D"/>
                </a:solidFill>
                <a:latin typeface="Liberation Mono"/>
              </a:rPr>
              <a:t>Acervo UFRRJ · 1984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0791" y="1344168"/>
            <a:ext cx="740664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TAMANHO ≠ FINANCIAMENTO PRODUTIVO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0791" y="1691640"/>
            <a:ext cx="7370064" cy="9692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850" b="1">
                <a:solidFill>
                  <a:srgbClr val="F5E9DB"/>
                </a:solidFill>
                <a:latin typeface="Liberation Sans"/>
              </a:rPr>
              <a:t>O paradoxo do sistema financeiro brasileiro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50791" y="2670048"/>
            <a:ext cx="3529584" cy="54864"/>
          </a:xfrm>
          <a:prstGeom prst="rect">
            <a:avLst/>
          </a:prstGeom>
          <a:solidFill>
            <a:srgbClr val="A44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0791" y="2807208"/>
            <a:ext cx="3529584" cy="5852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F5E9DB"/>
                </a:solidFill>
                <a:latin typeface="Liberation Sans"/>
              </a:rPr>
              <a:t>SISTEMA FINANCEIRO EXPANDIDO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69079" y="3657600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79" y="3566160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0">
                <a:solidFill>
                  <a:srgbClr val="DDCFBE"/>
                </a:solidFill>
                <a:latin typeface="Liberation Sans"/>
              </a:rPr>
              <a:t>Grande circulação de recursos financeiros.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69079" y="4468368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79" y="4376928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Ativos líquidos e protegidos da inflação.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069079" y="5279136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5187696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O capital excedente obtém retorno financeiro.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818120" y="2670048"/>
            <a:ext cx="3529584" cy="54864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18120" y="2807208"/>
            <a:ext cx="3529584" cy="5852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1">
                <a:solidFill>
                  <a:srgbClr val="F5E9DB"/>
                </a:solidFill>
                <a:latin typeface="Liberation Sans"/>
              </a:rPr>
              <a:t>MAS POUCO FINANCIAMENTO DE LONGO PRAZO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836408" y="3657600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65008" y="3566160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Crédito de longo prazo limitado.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36408" y="4468368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65008" y="4376928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700" b="0">
                <a:solidFill>
                  <a:srgbClr val="DDCFBE"/>
                </a:solidFill>
                <a:latin typeface="Liberation Sans"/>
              </a:rPr>
              <a:t>Expansão financeira não garante investimento.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36408" y="5279136"/>
            <a:ext cx="58521" cy="58521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65008" y="5187696"/>
            <a:ext cx="3246120" cy="7376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700" b="0">
                <a:solidFill>
                  <a:srgbClr val="F5E9DB"/>
                </a:solidFill>
                <a:latin typeface="Liberation Sans"/>
              </a:rPr>
              <a:t>Finanças crescem apesar da estagnação produtiva.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50791" y="5861304"/>
            <a:ext cx="7315200" cy="566928"/>
          </a:xfrm>
          <a:prstGeom prst="rect">
            <a:avLst/>
          </a:prstGeom>
          <a:solidFill>
            <a:srgbClr val="51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050791" y="5861304"/>
            <a:ext cx="91440" cy="566928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70248" y="5916168"/>
            <a:ext cx="6912864" cy="4846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639" b="1">
                <a:solidFill>
                  <a:srgbClr val="F5E9DB"/>
                </a:solidFill>
                <a:latin typeface="Liberation Sans"/>
              </a:rPr>
              <a:t>Setor financeiro expandido não garante crédito suficiente à produção.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Fonte: Lacerda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(2010, seção 12.3).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6" y="347472"/>
            <a:ext cx="7772400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0">
                <a:solidFill>
                  <a:srgbClr val="DDCFBE"/>
                </a:solidFill>
                <a:latin typeface="Liberation Mono"/>
              </a:rPr>
              <a:t>CAPÍTULO 04 · CONSEQUÊNCIAS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6035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1252728"/>
            <a:ext cx="42976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CONSIDERAÇÕES FINAIS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1618488"/>
            <a:ext cx="10954512" cy="8961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3200" b="1">
                <a:solidFill>
                  <a:srgbClr val="F5E9DB"/>
                </a:solidFill>
                <a:latin typeface="Liberation Sans"/>
              </a:rPr>
              <a:t>O que a especulação financeira representou nos anos 1980?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2761488"/>
            <a:ext cx="10936224" cy="13716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2898648"/>
            <a:ext cx="54864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100" b="1">
                <a:solidFill>
                  <a:srgbClr val="E1C18A"/>
                </a:solidFill>
                <a:latin typeface="Liberation Sans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6736" y="2907792"/>
            <a:ext cx="10049256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900" b="0">
                <a:solidFill>
                  <a:srgbClr val="F5E9DB"/>
                </a:solidFill>
                <a:latin typeface="Liberation Sans"/>
              </a:rPr>
              <a:t>Aproximou o capital produtivo do especulativo.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" y="3374136"/>
            <a:ext cx="10936224" cy="13716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3511296"/>
            <a:ext cx="54864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100" b="1">
                <a:solidFill>
                  <a:srgbClr val="E1C18A"/>
                </a:solidFill>
                <a:latin typeface="Liberation Sans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3520440"/>
            <a:ext cx="10049256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900" b="0">
                <a:solidFill>
                  <a:srgbClr val="F5E9DB"/>
                </a:solidFill>
                <a:latin typeface="Liberation Sans"/>
              </a:rPr>
              <a:t>Elevou o peso dos resultados financeiros nas grandes empresas.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" y="3986784"/>
            <a:ext cx="10936224" cy="13716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" y="4123944"/>
            <a:ext cx="54864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100" b="1">
                <a:solidFill>
                  <a:srgbClr val="E1C18A"/>
                </a:solidFill>
                <a:latin typeface="Liberation Sans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16736" y="4133088"/>
            <a:ext cx="10049256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900" b="0">
                <a:solidFill>
                  <a:srgbClr val="F5E9DB"/>
                </a:solidFill>
                <a:latin typeface="Liberation Sans"/>
              </a:rPr>
              <a:t>Fortaleceu o setor financeiro e favoreceu agentes mais protegidos da inflação.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" y="4599432"/>
            <a:ext cx="10936224" cy="13716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" y="4736592"/>
            <a:ext cx="54864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100" b="1">
                <a:solidFill>
                  <a:srgbClr val="E1C18A"/>
                </a:solidFill>
                <a:latin typeface="Liberation Sans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6736" y="4745736"/>
            <a:ext cx="10049256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1900" b="0">
                <a:solidFill>
                  <a:srgbClr val="F5E9DB"/>
                </a:solidFill>
                <a:latin typeface="Liberation Sans"/>
              </a:rPr>
              <a:t>Conviveu com a crise fiscal e a dificuldade de financiar a produção.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" y="5477256"/>
            <a:ext cx="10954512" cy="905256"/>
          </a:xfrm>
          <a:prstGeom prst="rect">
            <a:avLst/>
          </a:prstGeom>
          <a:solidFill>
            <a:srgbClr val="511D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3504" y="5477256"/>
            <a:ext cx="91440" cy="905256"/>
          </a:xfrm>
          <a:prstGeom prst="rect">
            <a:avLst/>
          </a:prstGeom>
          <a:solidFill>
            <a:srgbClr val="CBA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" y="5605272"/>
            <a:ext cx="10259568" cy="7040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r>
              <a:rPr sz="2000" b="0">
                <a:solidFill>
                  <a:srgbClr val="F5E9DB"/>
                </a:solidFill>
                <a:latin typeface="Liberation Sans"/>
              </a:rPr>
              <a:t>Na análise de Lacerda, a especulação cresceu na crise e agravou a inflação e seus efeitos distributivos.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9496" y="6588252"/>
            <a:ext cx="10021824" cy="2240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75" i="0" b="0">
                <a:solidFill>
                  <a:srgbClr val="DDCFBE"/>
                </a:solidFill>
                <a:latin typeface="Liberation Mono"/>
              </a:rPr>
              <a:t>Fontes: Lacerda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(2010, cap. 12); Giambiagi </a:t>
            </a:r>
            <a:r>
              <a:rPr sz="1075" i="1" b="0">
                <a:solidFill>
                  <a:srgbClr val="DDCFBE"/>
                </a:solidFill>
                <a:latin typeface="Liberation Mono"/>
              </a:rPr>
              <a:t>et al.</a:t>
            </a:r>
            <a:r>
              <a:rPr sz="1075" i="0" b="0">
                <a:solidFill>
                  <a:srgbClr val="DDCFBE"/>
                </a:solidFill>
                <a:latin typeface="Liberation Mono"/>
              </a:rPr>
              <a:t> (2011, caps. 4–5).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E13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54864"/>
          </a:xfrm>
          <a:prstGeom prst="rect">
            <a:avLst/>
          </a:prstGeom>
          <a:solidFill>
            <a:srgbClr val="782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548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7043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1790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86537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21284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56032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90779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325526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360273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3950207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429768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464515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4992624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5340096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687568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035040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6382512"/>
            <a:ext cx="12191969" cy="6400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88752" y="54864"/>
            <a:ext cx="1600200" cy="6803136"/>
          </a:xfrm>
          <a:prstGeom prst="rect">
            <a:avLst/>
          </a:prstGeom>
          <a:solidFill>
            <a:srgbClr val="1617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1197864"/>
            <a:ext cx="45720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E1C18A"/>
                </a:solidFill>
                <a:latin typeface="Liberation Mono"/>
              </a:rPr>
              <a:t>BASE DOCUMENTAL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1627632"/>
            <a:ext cx="9738360" cy="91440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4500" b="1">
                <a:solidFill>
                  <a:srgbClr val="F5E9DB"/>
                </a:solidFill>
                <a:latin typeface="Liberation Sans"/>
              </a:rPr>
              <a:t>REFERÊNCIAS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2770632"/>
            <a:ext cx="10863072" cy="15544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026663"/>
            <a:ext cx="10296144" cy="9875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870" b="0" i="0">
                <a:solidFill>
                  <a:srgbClr val="F5E9DB"/>
                </a:solidFill>
                <a:latin typeface="Liberation Sans"/>
              </a:rPr>
              <a:t>GIAMBIAGI, Fabio; VILLELA, André; CASTRO, Lavinia Barros de; HERMANN, Jennifer. </a:t>
            </a:r>
            <a:r>
              <a:rPr sz="1870" b="1" i="0">
                <a:solidFill>
                  <a:srgbClr val="F5E9DB"/>
                </a:solidFill>
                <a:latin typeface="Liberation Sans"/>
              </a:rPr>
              <a:t>Economia brasileira contemporânea: 1945–2010</a:t>
            </a:r>
            <a:r>
              <a:rPr sz="1870" b="0" i="0">
                <a:solidFill>
                  <a:srgbClr val="F5E9DB"/>
                </a:solidFill>
                <a:latin typeface="Liberation Sans"/>
              </a:rPr>
              <a:t>. 2. ed. Rio de Janeiro: Elsevier, 2011.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4032504"/>
            <a:ext cx="10863072" cy="15544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288536"/>
            <a:ext cx="10296144" cy="9875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000" b="0" i="0">
                <a:solidFill>
                  <a:srgbClr val="F5E9DB"/>
                </a:solidFill>
                <a:latin typeface="Liberation Sans"/>
              </a:rPr>
              <a:t>LACERDA, Antônio Corrêa de </a:t>
            </a:r>
            <a:r>
              <a:rPr sz="2000" b="0" i="1">
                <a:solidFill>
                  <a:srgbClr val="F5E9DB"/>
                </a:solidFill>
                <a:latin typeface="Liberation Sans"/>
              </a:rPr>
              <a:t>et al.</a:t>
            </a:r>
            <a:r>
              <a:rPr sz="2000" b="0" i="0">
                <a:solidFill>
                  <a:srgbClr val="F5E9DB"/>
                </a:solidFill>
                <a:latin typeface="Liberation Sans"/>
              </a:rPr>
              <a:t> </a:t>
            </a:r>
            <a:r>
              <a:rPr sz="2000" b="1" i="0">
                <a:solidFill>
                  <a:srgbClr val="F5E9DB"/>
                </a:solidFill>
                <a:latin typeface="Liberation Sans"/>
              </a:rPr>
              <a:t>Economia brasileira</a:t>
            </a:r>
            <a:r>
              <a:rPr sz="2000" b="0" i="0">
                <a:solidFill>
                  <a:srgbClr val="F5E9DB"/>
                </a:solidFill>
                <a:latin typeface="Liberation Sans"/>
              </a:rPr>
              <a:t>. 4. ed. São Paulo: Saraiva, 2010.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687568"/>
            <a:ext cx="10241280" cy="36576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00" b="0">
                <a:solidFill>
                  <a:srgbClr val="E1C18A"/>
                </a:solidFill>
                <a:latin typeface="Liberation Mono"/>
              </a:rPr>
              <a:t>CONTEÚDO FUNDAMENTADO NOS DOIS LIVROS ACADÊMICOS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0352" y="6547104"/>
            <a:ext cx="11109960" cy="10972"/>
          </a:xfrm>
          <a:prstGeom prst="rect">
            <a:avLst/>
          </a:prstGeom>
          <a:solidFill>
            <a:srgbClr val="373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" y="6592824"/>
            <a:ext cx="9875520" cy="1554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00" b="0">
                <a:solidFill>
                  <a:srgbClr val="BBAA94"/>
                </a:solidFill>
                <a:latin typeface="Liberation Mono"/>
              </a:rPr>
              <a:t>UFMT · ECONOMIA BRASILEIRA II · ARQUIVO ECONÔMICO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6583680"/>
            <a:ext cx="896112" cy="21031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1110" b="0">
                <a:solidFill>
                  <a:srgbClr val="CBA04D"/>
                </a:solidFill>
                <a:latin typeface="Liberation Mono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